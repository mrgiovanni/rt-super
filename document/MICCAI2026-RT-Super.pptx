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0" r:id="rId5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" userDrawn="1">
          <p15:clr>
            <a:srgbClr val="A4A3A4"/>
          </p15:clr>
        </p15:guide>
        <p15:guide id="2" pos="224" userDrawn="1">
          <p15:clr>
            <a:srgbClr val="A4A3A4"/>
          </p15:clr>
        </p15:guide>
        <p15:guide id="3" pos="18824" userDrawn="1">
          <p15:clr>
            <a:srgbClr val="A4A3A4"/>
          </p15:clr>
        </p15:guide>
        <p15:guide id="4" orient="horz" pos="26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E75"/>
    <a:srgbClr val="4F95DB"/>
    <a:srgbClr val="9A0000"/>
    <a:srgbClr val="C44E13"/>
    <a:srgbClr val="C44F13"/>
    <a:srgbClr val="012D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78"/>
    <p:restoredTop sz="98211"/>
  </p:normalViewPr>
  <p:slideViewPr>
    <p:cSldViewPr snapToGrid="0">
      <p:cViewPr>
        <p:scale>
          <a:sx n="46" d="100"/>
          <a:sy n="46" d="100"/>
        </p:scale>
        <p:origin x="2184" y="-5248"/>
      </p:cViewPr>
      <p:guideLst>
        <p:guide orient="horz" pos="234"/>
        <p:guide pos="224"/>
        <p:guide pos="18824"/>
        <p:guide orient="horz" pos="26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46811-0344-1C44-9B6E-A3DB5FA70451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464D1-B649-BE43-AFA3-090248E40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BC89-AEB1-FD79-F7C2-E9DC74DC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4AA30-D98B-182A-2C00-E1AD53383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7CB18-E0D1-19B5-3CAF-0BD1324D8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8B729-DFD6-38E1-8F8E-7B644F8CA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464D1-B649-BE43-AFA3-090248E40D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4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43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2655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961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0639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52042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9058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2455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8989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26853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0241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6238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5497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21" Type="http://schemas.openxmlformats.org/officeDocument/2006/relationships/image" Target="../media/image17.emf"/><Relationship Id="rId7" Type="http://schemas.openxmlformats.org/officeDocument/2006/relationships/hyperlink" Target="http://github.com/mrgiovanni/R-Super" TargetMode="Externa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jpe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zzhou82@jh.edu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3.sv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E7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4A8D4-DCA0-EB5D-EB56-AB169CE1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BA1383E7-209B-DDFD-E026-31F135FBB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5353474" y="21441021"/>
            <a:ext cx="14511370" cy="6919171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96790FCA-AEC3-91ED-2941-3777C5ED5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5353474" y="28770543"/>
            <a:ext cx="14511370" cy="13392474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F51E2453-818B-6103-16B7-F0A6566B7F0D}"/>
              </a:ext>
            </a:extLst>
          </p:cNvPr>
          <p:cNvSpPr/>
          <p:nvPr/>
        </p:nvSpPr>
        <p:spPr>
          <a:xfrm>
            <a:off x="368647" y="22595172"/>
            <a:ext cx="14415270" cy="10449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1800" dirty="0">
                <a:latin typeface="Avenir Book" panose="02000503020000020003" pitchFamily="2" charset="0"/>
              </a:rPr>
              <a:t>Unlike others, the R-Super loss functions can leverage radiology reports to yield massive performance improvements in tumor segmentation.</a:t>
            </a:r>
            <a:endParaRPr lang="en-US" sz="1800" dirty="0">
              <a:highlight>
                <a:srgbClr val="FFFF00"/>
              </a:highlight>
              <a:latin typeface="Avenir Book" panose="02000503020000020003" pitchFamily="2" charset="0"/>
            </a:endParaRPr>
          </a:p>
        </p:txBody>
      </p:sp>
      <p:pic>
        <p:nvPicPr>
          <p:cNvPr id="1090" name="Picture 1089">
            <a:extLst>
              <a:ext uri="{FF2B5EF4-FFF2-40B4-BE49-F238E27FC236}">
                <a16:creationId xmlns:a16="http://schemas.microsoft.com/office/drawing/2014/main" id="{D3A57B75-DB85-B03E-87A9-76B07DB8C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68647" y="33432584"/>
            <a:ext cx="14436153" cy="873043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BFC307D-72B1-9E58-D71A-6EB83CB4EB7C}"/>
              </a:ext>
            </a:extLst>
          </p:cNvPr>
          <p:cNvSpPr/>
          <p:nvPr/>
        </p:nvSpPr>
        <p:spPr>
          <a:xfrm>
            <a:off x="354747" y="10923067"/>
            <a:ext cx="14415270" cy="112465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effectLst/>
                <a:latin typeface="Helvetica" pitchFamily="2" charset="0"/>
              </a:rPr>
              <a:t>Within the upper endometrial cavity, there are two adjacent hyperattenuating lesions measuring up to 1.6-cm (series 4,</a:t>
            </a:r>
          </a:p>
          <a:p>
            <a:r>
              <a:rPr lang="en-US" dirty="0">
                <a:effectLst/>
                <a:latin typeface="Helvetica" pitchFamily="2" charset="0"/>
              </a:rPr>
              <a:t>image 254).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282670-8371-14F9-1F6B-8E22CC164731}"/>
              </a:ext>
            </a:extLst>
          </p:cNvPr>
          <p:cNvSpPr/>
          <p:nvPr/>
        </p:nvSpPr>
        <p:spPr>
          <a:xfrm>
            <a:off x="355600" y="405643"/>
            <a:ext cx="29527500" cy="46928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6E6BA-1F2B-026D-AEC4-B657FA4BB255}"/>
              </a:ext>
            </a:extLst>
          </p:cNvPr>
          <p:cNvSpPr txBox="1"/>
          <p:nvPr/>
        </p:nvSpPr>
        <p:spPr>
          <a:xfrm>
            <a:off x="311061" y="42272664"/>
            <a:ext cx="29490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This work was supported by the </a:t>
            </a:r>
            <a:r>
              <a:rPr lang="en-US" sz="2800" dirty="0" err="1">
                <a:solidFill>
                  <a:schemeClr val="bg1"/>
                </a:solidFill>
                <a:latin typeface="Avenir Book" panose="02000503020000020003" pitchFamily="2" charset="0"/>
              </a:rPr>
              <a:t>Lustgarten</a:t>
            </a:r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 Foundation and the National Institutes of Health (NIH), Award R01EB037669.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66534-CE91-3B77-780E-0F8A758ACD99}"/>
              </a:ext>
            </a:extLst>
          </p:cNvPr>
          <p:cNvSpPr txBox="1"/>
          <p:nvPr/>
        </p:nvSpPr>
        <p:spPr>
          <a:xfrm>
            <a:off x="3999124" y="397889"/>
            <a:ext cx="226490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venir Black" panose="02000503020000020003" pitchFamily="2" charset="0"/>
              </a:rPr>
              <a:t>RT-</a:t>
            </a:r>
            <a:r>
              <a:rPr lang="en-US" sz="5400" b="1" dirty="0">
                <a:solidFill>
                  <a:srgbClr val="002E75"/>
                </a:solidFill>
                <a:latin typeface="Avenir Black" panose="02000503020000020003" pitchFamily="2" charset="0"/>
              </a:rPr>
              <a:t>Super</a:t>
            </a:r>
            <a:r>
              <a:rPr lang="en-US" sz="5400" b="1" dirty="0">
                <a:latin typeface="Avenir Black" panose="02000503020000020003" pitchFamily="2" charset="0"/>
              </a:rPr>
              <a:t>: Learning Tumor Segmentation </a:t>
            </a:r>
          </a:p>
          <a:p>
            <a:pPr algn="ctr"/>
            <a:r>
              <a:rPr lang="en-US" sz="5400" b="1" dirty="0">
                <a:latin typeface="Avenir Black" panose="02000503020000020003" pitchFamily="2" charset="0"/>
              </a:rPr>
              <a:t>from Longitudinal Images and Reports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2B56DE-8D41-63FF-F04E-8988EC136336}"/>
              </a:ext>
            </a:extLst>
          </p:cNvPr>
          <p:cNvGrpSpPr/>
          <p:nvPr/>
        </p:nvGrpSpPr>
        <p:grpSpPr>
          <a:xfrm>
            <a:off x="2862854" y="2094131"/>
            <a:ext cx="26178402" cy="3108543"/>
            <a:chOff x="2862854" y="1883117"/>
            <a:chExt cx="26178402" cy="3108543"/>
          </a:xfrm>
        </p:grpSpPr>
        <p:pic>
          <p:nvPicPr>
            <p:cNvPr id="9" name="Graphic 8" descr="Envelope with solid fill">
              <a:extLst>
                <a:ext uri="{FF2B5EF4-FFF2-40B4-BE49-F238E27FC236}">
                  <a16:creationId xmlns:a16="http://schemas.microsoft.com/office/drawing/2014/main" id="{2DBED6C0-7A60-B8B4-013A-3E491B0EF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664312" y="4394383"/>
              <a:ext cx="376944" cy="37694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40FC28-0B3E-79A2-875B-A036C40EEB33}"/>
                </a:ext>
              </a:extLst>
            </p:cNvPr>
            <p:cNvSpPr txBox="1"/>
            <p:nvPr/>
          </p:nvSpPr>
          <p:spPr>
            <a:xfrm>
              <a:off x="2862854" y="1883117"/>
              <a:ext cx="24549504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Pedro R. A. S. Bassi</a:t>
              </a:r>
              <a:r>
                <a:rPr lang="en-US" sz="2800" baseline="30000" dirty="0"/>
                <a:t>1,2,3</a:t>
              </a:r>
              <a:r>
                <a:rPr lang="en-US" sz="2800" dirty="0"/>
                <a:t>, Wenxuan Li</a:t>
              </a:r>
              <a:r>
                <a:rPr lang="en-US" sz="2800" baseline="30000" dirty="0"/>
                <a:t>1,2,3</a:t>
              </a:r>
              <a:r>
                <a:rPr lang="en-US" sz="2800" dirty="0"/>
                <a:t>, Hanxue Gu</a:t>
              </a:r>
              <a:r>
                <a:rPr lang="en-US" sz="2800" baseline="30000" dirty="0"/>
                <a:t>4</a:t>
              </a:r>
              <a:r>
                <a:rPr lang="en-US" sz="2800" dirty="0"/>
                <a:t>, Jieneng Chen</a:t>
              </a:r>
              <a:r>
                <a:rPr lang="en-US" sz="2800" baseline="30000" dirty="0"/>
                <a:t>1</a:t>
              </a:r>
              <a:r>
                <a:rPr lang="en-US" sz="2800" dirty="0"/>
                <a:t>, Xinze Zhou</a:t>
              </a:r>
              <a:r>
                <a:rPr lang="en-US" sz="2800" baseline="30000" dirty="0"/>
                <a:t>1</a:t>
              </a:r>
              <a:r>
                <a:rPr lang="en-US" sz="2800" dirty="0"/>
                <a:t>,</a:t>
              </a:r>
            </a:p>
            <a:p>
              <a:pPr algn="ctr"/>
              <a:r>
                <a:rPr lang="en-US" sz="2800" dirty="0"/>
                <a:t>Zheren Zhu</a:t>
              </a:r>
              <a:r>
                <a:rPr lang="en-US" sz="2800" baseline="30000" dirty="0"/>
                <a:t>4</a:t>
              </a:r>
              <a:r>
                <a:rPr lang="en-US" sz="2800" dirty="0"/>
                <a:t>, Sezgin Er</a:t>
              </a:r>
              <a:r>
                <a:rPr lang="en-US" sz="2800" baseline="30000" dirty="0"/>
                <a:t>5</a:t>
              </a:r>
              <a:r>
                <a:rPr lang="en-US" sz="2800" dirty="0"/>
                <a:t>, Ibrahim E. Hamamci</a:t>
              </a:r>
              <a:r>
                <a:rPr lang="en-US" sz="2800" baseline="30000" dirty="0"/>
                <a:t>5</a:t>
              </a:r>
              <a:r>
                <a:rPr lang="en-US" sz="2800" dirty="0"/>
                <a:t>, Bjoern H. Menze</a:t>
              </a:r>
              <a:r>
                <a:rPr lang="en-US" sz="2800" baseline="30000" dirty="0"/>
                <a:t>5</a:t>
              </a:r>
              <a:r>
                <a:rPr lang="en-US" sz="2800" dirty="0"/>
                <a:t>, Gulhan E. Akan</a:t>
              </a:r>
              <a:r>
                <a:rPr lang="en-US" sz="2800" baseline="30000" dirty="0"/>
                <a:t>6</a:t>
              </a:r>
              <a:r>
                <a:rPr lang="en-US" sz="2800" dirty="0"/>
                <a:t>,</a:t>
              </a:r>
            </a:p>
            <a:p>
              <a:pPr algn="ctr"/>
              <a:r>
                <a:rPr lang="en-US" sz="2800" dirty="0"/>
                <a:t>Kang Wang</a:t>
              </a:r>
              <a:r>
                <a:rPr lang="en-US" sz="2800" baseline="30000" dirty="0"/>
                <a:t>4</a:t>
              </a:r>
              <a:r>
                <a:rPr lang="en-US" sz="2800" dirty="0"/>
                <a:t>, Yang Yang</a:t>
              </a:r>
              <a:r>
                <a:rPr lang="en-US" sz="2800" baseline="30000" dirty="0"/>
                <a:t>4</a:t>
              </a:r>
              <a:r>
                <a:rPr lang="en-US" sz="2800" dirty="0"/>
                <a:t>, Alan L. Yuille</a:t>
              </a:r>
              <a:r>
                <a:rPr lang="en-US" sz="2800" baseline="30000" dirty="0"/>
                <a:t>1</a:t>
              </a:r>
              <a:r>
                <a:rPr lang="en-US" sz="2800" dirty="0"/>
                <a:t>, and Zongwei Zhou</a:t>
              </a:r>
              <a:r>
                <a:rPr lang="en-US" sz="2800" baseline="30000" dirty="0"/>
                <a:t>1,7*</a:t>
              </a:r>
            </a:p>
            <a:p>
              <a:pPr algn="ctr"/>
              <a:endParaRPr lang="en-US" sz="1400" dirty="0">
                <a:latin typeface="Avenir Medium" panose="02000503020000020003" pitchFamily="2" charset="0"/>
              </a:endParaRPr>
            </a:p>
            <a:p>
              <a:pPr algn="ctr"/>
              <a:r>
                <a:rPr lang="en-US" sz="2800" i="1" baseline="30000" dirty="0"/>
                <a:t>1</a:t>
              </a:r>
              <a:r>
                <a:rPr lang="en-US" sz="2800" i="1" dirty="0"/>
                <a:t>Johns Hopkins University  </a:t>
              </a:r>
              <a:r>
                <a:rPr lang="en-US" sz="2800" i="1" baseline="30000" dirty="0"/>
                <a:t>2</a:t>
              </a:r>
              <a:r>
                <a:rPr lang="en-US" sz="2800" i="1" dirty="0"/>
                <a:t>Harvard Medical School  </a:t>
              </a:r>
              <a:r>
                <a:rPr lang="en-US" sz="2800" i="1" baseline="30000" dirty="0"/>
                <a:t>3</a:t>
              </a:r>
              <a:r>
                <a:rPr lang="en-US" sz="2800" i="1" dirty="0"/>
                <a:t>Massachusetts General Hospital  </a:t>
              </a:r>
            </a:p>
            <a:p>
              <a:pPr algn="ctr"/>
              <a:r>
                <a:rPr lang="en-US" sz="2800" i="1" baseline="30000" dirty="0"/>
                <a:t>4</a:t>
              </a:r>
              <a:r>
                <a:rPr lang="en-US" sz="2800" i="1" dirty="0"/>
                <a:t>University of California, San Francisco </a:t>
              </a:r>
              <a:r>
                <a:rPr lang="en-US" sz="2800" i="1" baseline="30000" dirty="0"/>
                <a:t>5</a:t>
              </a:r>
              <a:r>
                <a:rPr lang="en-US" sz="2800" i="1" dirty="0"/>
                <a:t>University of Zurich  </a:t>
              </a:r>
              <a:r>
                <a:rPr lang="en-US" sz="2800" i="1" baseline="30000" dirty="0"/>
                <a:t>6</a:t>
              </a:r>
              <a:r>
                <a:rPr lang="en-US" sz="2800" i="1" dirty="0"/>
                <a:t>Istanbul Medipol University  </a:t>
              </a:r>
              <a:r>
                <a:rPr lang="en-US" sz="2800" i="1" baseline="30000" dirty="0"/>
                <a:t>7</a:t>
              </a:r>
              <a:r>
                <a:rPr lang="en-US" sz="2800" i="1" dirty="0"/>
                <a:t>Johns Hopkins Medicine</a:t>
              </a:r>
            </a:p>
            <a:p>
              <a:pPr algn="ctr"/>
              <a:endParaRPr lang="en-US" sz="1400" dirty="0">
                <a:latin typeface="Avenir Medium" panose="02000503020000020003" pitchFamily="2" charset="0"/>
              </a:endParaRPr>
            </a:p>
            <a:p>
              <a:pPr algn="ctr"/>
              <a:r>
                <a:rPr lang="en-US" sz="2800" b="1" dirty="0">
                  <a:latin typeface="Avenir Black" panose="02000503020000020003" pitchFamily="2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zzhou82@jh.edu</a:t>
              </a:r>
              <a:r>
                <a:rPr lang="en-US" sz="2800" b="1" dirty="0">
                  <a:latin typeface="Avenir Black" panose="02000503020000020003" pitchFamily="2" charset="0"/>
                </a:rPr>
                <a:t>; Code (QR code): </a:t>
              </a:r>
              <a:r>
                <a:rPr lang="en-US" sz="2800" b="1" u="sng" dirty="0">
                  <a:solidFill>
                    <a:srgbClr val="002E75"/>
                  </a:solidFill>
                  <a:latin typeface="Avenir Black" panose="02000503020000020003" pitchFamily="2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github.com/mrgiovanni/</a:t>
              </a:r>
              <a:r>
                <a:rPr lang="en-US" sz="2800" b="1" u="sng" dirty="0">
                  <a:solidFill>
                    <a:srgbClr val="002E75"/>
                  </a:solidFill>
                  <a:latin typeface="Avenir Black" panose="02000503020000020003" pitchFamily="2" charset="0"/>
                </a:rPr>
                <a:t>RT-Super</a:t>
              </a:r>
            </a:p>
          </p:txBody>
        </p:sp>
      </p:grpSp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F0B0C089-CA30-BBB6-B1A0-38D7361E6C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599" y="530014"/>
            <a:ext cx="4480602" cy="211969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1C4002B-2355-C3F1-8F08-4DB6CEA32DCC}"/>
              </a:ext>
            </a:extLst>
          </p:cNvPr>
          <p:cNvSpPr/>
          <p:nvPr/>
        </p:nvSpPr>
        <p:spPr>
          <a:xfrm>
            <a:off x="337344" y="5526152"/>
            <a:ext cx="29527500" cy="5067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CE0E0-9548-91C6-E6D7-08B3FBD8FF61}"/>
              </a:ext>
            </a:extLst>
          </p:cNvPr>
          <p:cNvSpPr txBox="1"/>
          <p:nvPr/>
        </p:nvSpPr>
        <p:spPr>
          <a:xfrm>
            <a:off x="325892" y="5501231"/>
            <a:ext cx="2949098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Learning Detection and Segmentation from Large-Scale Longitudinal Images &amp; Reports instead of Scarce Tumor Masks</a:t>
            </a:r>
          </a:p>
          <a:p>
            <a:pPr algn="just">
              <a:spcBef>
                <a:spcPts val="1200"/>
              </a:spcBef>
            </a:pPr>
            <a:r>
              <a:rPr lang="en-US" sz="2800" b="1" dirty="0">
                <a:solidFill>
                  <a:srgbClr val="002E75"/>
                </a:solidFill>
                <a:latin typeface="Avenir Black" panose="02000503020000020003" pitchFamily="2" charset="0"/>
              </a:rPr>
              <a:t>Background</a:t>
            </a:r>
            <a:r>
              <a:rPr lang="en-US" sz="2800" dirty="0">
                <a:latin typeface="Avenir Book" panose="02000503020000020003" pitchFamily="2" charset="0"/>
              </a:rPr>
              <a:t>: Tumor segmentation can advance cancer detection and surpass VLMs and classifiers, but </a:t>
            </a:r>
            <a:r>
              <a:rPr lang="en-US" sz="2800" b="1" dirty="0">
                <a:latin typeface="Avenir Book" panose="02000503020000020003" pitchFamily="2" charset="0"/>
              </a:rPr>
              <a:t>segmentation datasets are often small and lack masks</a:t>
            </a:r>
            <a:r>
              <a:rPr lang="en-US" sz="2800" dirty="0">
                <a:latin typeface="Avenir Book" panose="02000503020000020003" pitchFamily="2" charset="0"/>
              </a:rPr>
              <a:t> for most tumor types in CT. Instead, hospitals and new public datasets have </a:t>
            </a:r>
            <a:r>
              <a:rPr lang="en-US" sz="2800" b="1" dirty="0">
                <a:latin typeface="Avenir Book" panose="02000503020000020003" pitchFamily="2" charset="0"/>
              </a:rPr>
              <a:t>vast, readily available data </a:t>
            </a:r>
            <a:r>
              <a:rPr lang="en-US" sz="2800" dirty="0">
                <a:latin typeface="Avenir Book" panose="02000503020000020003" pitchFamily="2" charset="0"/>
              </a:rPr>
              <a:t>that can guide segmentation: radiology reports, longitudinal images, and multi-phase images.</a:t>
            </a:r>
          </a:p>
          <a:p>
            <a:pPr algn="just">
              <a:spcBef>
                <a:spcPts val="1200"/>
              </a:spcBef>
            </a:pPr>
            <a:r>
              <a:rPr lang="en-US" sz="2800" b="1" dirty="0">
                <a:solidFill>
                  <a:srgbClr val="002E75"/>
                </a:solidFill>
                <a:latin typeface="Avenir Black" panose="02000503020000020003" pitchFamily="2" charset="0"/>
              </a:rPr>
              <a:t>Contribution</a:t>
            </a:r>
            <a:r>
              <a:rPr lang="en-US" sz="2800" dirty="0">
                <a:latin typeface="Avenir Book" panose="02000503020000020003" pitchFamily="2" charset="0"/>
              </a:rPr>
              <a:t>: RT-Super, an architecture that learns from large-scale longitudinal images and reports, instead of or in addition to segmentation masks. Importantly, RT-Super also </a:t>
            </a:r>
            <a:r>
              <a:rPr lang="en-US" sz="2800" b="1" dirty="0">
                <a:latin typeface="Avenir Book" panose="02000503020000020003" pitchFamily="2" charset="0"/>
              </a:rPr>
              <a:t>improves tumor detection and segmentation when a single image and no report are available at inference </a:t>
            </a:r>
            <a:r>
              <a:rPr lang="en-US" sz="2800" dirty="0">
                <a:latin typeface="Avenir Book" panose="02000503020000020003" pitchFamily="2" charset="0"/>
              </a:rPr>
              <a:t>– common in incidental cancer detection.</a:t>
            </a:r>
          </a:p>
          <a:p>
            <a:pPr algn="just">
              <a:spcBef>
                <a:spcPts val="1200"/>
              </a:spcBef>
            </a:pPr>
            <a:r>
              <a:rPr lang="en-US" sz="2800" b="1" dirty="0">
                <a:solidFill>
                  <a:srgbClr val="002E75"/>
                </a:solidFill>
                <a:latin typeface="Avenir Black" panose="02000503020000020003" pitchFamily="2" charset="0"/>
                <a:cs typeface="Arial" panose="020B0604020202020204" pitchFamily="34" charset="0"/>
              </a:rPr>
              <a:t>Method</a:t>
            </a:r>
            <a:r>
              <a:rPr lang="en-US" sz="2800" dirty="0">
                <a:latin typeface="Avenir Book" panose="02000503020000020003" pitchFamily="2" charset="0"/>
                <a:cs typeface="Arial" panose="020B0604020202020204" pitchFamily="34" charset="0"/>
              </a:rPr>
              <a:t>: A teacher network analyzes all the patient's longitudinal images and reports to create high-quality tumor masks. These masks train a student network, which sees a single image and no report. At inference, when longitudinal images and reports are unavailable, we use the student. RT-Super includes a new </a:t>
            </a:r>
            <a:r>
              <a:rPr lang="en-US" sz="2800" b="1" dirty="0">
                <a:latin typeface="Avenir Book" panose="02000503020000020003" pitchFamily="2" charset="0"/>
                <a:cs typeface="Arial" panose="020B0604020202020204" pitchFamily="34" charset="0"/>
              </a:rPr>
              <a:t>CNN-Transformer architecture </a:t>
            </a:r>
            <a:r>
              <a:rPr lang="en-US" sz="2800" dirty="0">
                <a:latin typeface="Avenir Book" panose="02000503020000020003" pitchFamily="2" charset="0"/>
                <a:cs typeface="Arial" panose="020B0604020202020204" pitchFamily="34" charset="0"/>
              </a:rPr>
              <a:t>and </a:t>
            </a:r>
            <a:r>
              <a:rPr lang="en-US" sz="2800" b="1" dirty="0">
                <a:latin typeface="Avenir Book" panose="02000503020000020003" pitchFamily="2" charset="0"/>
                <a:cs typeface="Arial" panose="020B0604020202020204" pitchFamily="34" charset="0"/>
              </a:rPr>
              <a:t>Consistency Losses</a:t>
            </a:r>
            <a:r>
              <a:rPr lang="en-US" sz="2800" dirty="0">
                <a:latin typeface="Avenir Book" panose="02000503020000020003" pitchFamily="2" charset="0"/>
                <a:cs typeface="Arial" panose="020B0604020202020204" pitchFamily="34" charset="0"/>
              </a:rPr>
              <a:t> that exploit tumor location consistency across longitudinal images.</a:t>
            </a:r>
          </a:p>
          <a:p>
            <a:pPr algn="just">
              <a:spcBef>
                <a:spcPts val="1200"/>
              </a:spcBef>
            </a:pPr>
            <a:r>
              <a:rPr lang="en-US" sz="2800" b="1" dirty="0">
                <a:solidFill>
                  <a:srgbClr val="002E75"/>
                </a:solidFill>
                <a:latin typeface="Avenir Black" panose="02000503020000020003" pitchFamily="2" charset="0"/>
                <a:cs typeface="Arial" panose="020B0604020202020204" pitchFamily="34" charset="0"/>
              </a:rPr>
              <a:t>Results</a:t>
            </a:r>
            <a:r>
              <a:rPr lang="en-US" sz="2800" dirty="0">
                <a:latin typeface="Avenir Book" panose="02000503020000020003" pitchFamily="2" charset="0"/>
                <a:cs typeface="Arial" panose="020B0604020202020204" pitchFamily="34" charset="0"/>
              </a:rPr>
              <a:t>: Even without training masks, RT-Super surpasses public AI models in segmenting </a:t>
            </a:r>
            <a:r>
              <a:rPr lang="en-US" sz="2800" b="1" dirty="0">
                <a:latin typeface="Avenir Book" panose="02000503020000020003" pitchFamily="2" charset="0"/>
                <a:cs typeface="Arial" panose="020B0604020202020204" pitchFamily="34" charset="0"/>
              </a:rPr>
              <a:t>esophagus, uterus and spleen tumors</a:t>
            </a:r>
            <a:r>
              <a:rPr lang="en-US" sz="2800" dirty="0">
                <a:latin typeface="Avenir Book" panose="02000503020000020003" pitchFamily="2" charset="0"/>
                <a:cs typeface="Arial" panose="020B0604020202020204" pitchFamily="34" charset="0"/>
              </a:rPr>
              <a:t>, which have few or no public masks. It also surpasses alternative methodologies trained on our dataset, including other methodologies that can learn from reports (e.g., CLIP and multi-task learning).</a:t>
            </a:r>
            <a:endParaRPr lang="en-US" sz="2800" dirty="0">
              <a:solidFill>
                <a:srgbClr val="4F95DB"/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7DC87D-2A77-18AD-5417-61B6F2148404}"/>
              </a:ext>
            </a:extLst>
          </p:cNvPr>
          <p:cNvSpPr txBox="1"/>
          <p:nvPr/>
        </p:nvSpPr>
        <p:spPr>
          <a:xfrm>
            <a:off x="354748" y="22657960"/>
            <a:ext cx="144152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To Segment or Detect Cancer, Radiologists Analyze the Patient’s Previous Scans &amp; Reports. Our AI should do the same.</a:t>
            </a:r>
          </a:p>
        </p:txBody>
      </p:sp>
      <p:pic>
        <p:nvPicPr>
          <p:cNvPr id="1044" name="Picture 1043">
            <a:extLst>
              <a:ext uri="{FF2B5EF4-FFF2-40B4-BE49-F238E27FC236}">
                <a16:creationId xmlns:a16="http://schemas.microsoft.com/office/drawing/2014/main" id="{BEB55433-69A4-5FB1-1740-65E52E792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5329690" y="10923442"/>
            <a:ext cx="14551872" cy="10190508"/>
          </a:xfrm>
          <a:prstGeom prst="rect">
            <a:avLst/>
          </a:prstGeom>
        </p:spPr>
      </p:pic>
      <p:pic>
        <p:nvPicPr>
          <p:cNvPr id="19" name="Picture 4" descr="MICCAI 2026 - 29. International Conference On Medical Image Computing &amp;  Computer Assisted Intervention">
            <a:extLst>
              <a:ext uri="{FF2B5EF4-FFF2-40B4-BE49-F238E27FC236}">
                <a16:creationId xmlns:a16="http://schemas.microsoft.com/office/drawing/2014/main" id="{779DBA6E-8CB5-55E8-4EC9-ED0B2CCD8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5480" y="537900"/>
            <a:ext cx="5732272" cy="199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B7544DA-D9F1-2901-4AA2-9BFECC42FF16}"/>
              </a:ext>
            </a:extLst>
          </p:cNvPr>
          <p:cNvSpPr txBox="1"/>
          <p:nvPr/>
        </p:nvSpPr>
        <p:spPr>
          <a:xfrm>
            <a:off x="26843058" y="2990590"/>
            <a:ext cx="31046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2E75"/>
                </a:solidFill>
                <a:highlight>
                  <a:srgbClr val="FFFF00"/>
                </a:highlight>
                <a:latin typeface="Avenir Book" panose="02000503020000020003" pitchFamily="2" charset="0"/>
              </a:rPr>
              <a:t>GitHub</a:t>
            </a:r>
          </a:p>
          <a:p>
            <a:r>
              <a:rPr lang="en-US" sz="4800" b="1" dirty="0">
                <a:solidFill>
                  <a:srgbClr val="002E75"/>
                </a:solidFill>
                <a:highlight>
                  <a:srgbClr val="FFFF00"/>
                </a:highlight>
                <a:latin typeface="Avenir Book" panose="02000503020000020003" pitchFamily="2" charset="0"/>
              </a:rPr>
              <a:t>Code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8919282-D3C7-5726-EA63-8892BBD3B2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46070" y="4461498"/>
            <a:ext cx="965200" cy="520843"/>
          </a:xfrm>
          <a:prstGeom prst="rect">
            <a:avLst/>
          </a:prstGeom>
        </p:spPr>
      </p:pic>
      <p:sp>
        <p:nvSpPr>
          <p:cNvPr id="1066" name="TextBox 1065">
            <a:extLst>
              <a:ext uri="{FF2B5EF4-FFF2-40B4-BE49-F238E27FC236}">
                <a16:creationId xmlns:a16="http://schemas.microsoft.com/office/drawing/2014/main" id="{9BCC35FA-1917-CEA1-AB22-8D254FEF3E2E}"/>
              </a:ext>
            </a:extLst>
          </p:cNvPr>
          <p:cNvSpPr txBox="1"/>
          <p:nvPr/>
        </p:nvSpPr>
        <p:spPr>
          <a:xfrm>
            <a:off x="15339574" y="10960300"/>
            <a:ext cx="145518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Modular CNN-Transformer Architecture: the Student is Part of the Teacher</a:t>
            </a:r>
            <a:r>
              <a:rPr lang="en-US" sz="3200" b="1" dirty="0">
                <a:solidFill>
                  <a:srgbClr val="002E75"/>
                </a:solidFill>
                <a:highlight>
                  <a:srgbClr val="FFFF00"/>
                </a:highlight>
                <a:latin typeface="Avenir Black" panose="02000503020000020003" pitchFamily="2" charset="0"/>
              </a:rPr>
              <a:t> </a:t>
            </a:r>
            <a:endParaRPr lang="en-US" sz="3200" b="1" dirty="0">
              <a:solidFill>
                <a:srgbClr val="002E75"/>
              </a:solidFill>
              <a:latin typeface="Avenir Black" panose="02000503020000020003" pitchFamily="2" charset="0"/>
            </a:endParaRPr>
          </a:p>
        </p:txBody>
      </p:sp>
      <p:pic>
        <p:nvPicPr>
          <p:cNvPr id="1028" name="Picture 4" descr="Harvard University Logo PNG Vector (AI) Free Download">
            <a:extLst>
              <a:ext uri="{FF2B5EF4-FFF2-40B4-BE49-F238E27FC236}">
                <a16:creationId xmlns:a16="http://schemas.microsoft.com/office/drawing/2014/main" id="{4B8A310E-8ED3-252E-CA69-F8A90A3D9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68" t="4537" r="15950" b="31833"/>
          <a:stretch/>
        </p:blipFill>
        <p:spPr bwMode="auto">
          <a:xfrm>
            <a:off x="3885045" y="2771666"/>
            <a:ext cx="2406572" cy="229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041D7F2-F836-9DDA-9CC9-307F07DDF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43" y="3199774"/>
            <a:ext cx="2791982" cy="136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7C88258B-0189-0E45-413F-828C2C8E5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0286" y="2564926"/>
            <a:ext cx="2406572" cy="24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4CEA88-ECE8-B55C-5223-2E7331819236}"/>
              </a:ext>
            </a:extLst>
          </p:cNvPr>
          <p:cNvSpPr txBox="1"/>
          <p:nvPr/>
        </p:nvSpPr>
        <p:spPr>
          <a:xfrm>
            <a:off x="181569" y="10957699"/>
            <a:ext cx="144152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Background: Report Datasets are Much Larger than Mask Datasets &amp; </a:t>
            </a:r>
          </a:p>
          <a:p>
            <a:pPr algn="ctr"/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Cover All Tumor Types</a:t>
            </a:r>
          </a:p>
        </p:txBody>
      </p:sp>
      <p:pic>
        <p:nvPicPr>
          <p:cNvPr id="16" name="Picture 14" descr="Image preview">
            <a:extLst>
              <a:ext uri="{FF2B5EF4-FFF2-40B4-BE49-F238E27FC236}">
                <a16:creationId xmlns:a16="http://schemas.microsoft.com/office/drawing/2014/main" id="{37537446-ACA3-941D-7A3A-9FA093D3AF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" t="4373" b="14895"/>
          <a:stretch/>
        </p:blipFill>
        <p:spPr bwMode="auto">
          <a:xfrm>
            <a:off x="434440" y="12284262"/>
            <a:ext cx="14306557" cy="392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CBED8AE-0A17-37CD-4291-A10C4FD7CCB4}"/>
              </a:ext>
            </a:extLst>
          </p:cNvPr>
          <p:cNvSpPr txBox="1"/>
          <p:nvPr/>
        </p:nvSpPr>
        <p:spPr>
          <a:xfrm>
            <a:off x="417223" y="19764303"/>
            <a:ext cx="1436788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2800" dirty="0">
                <a:latin typeface="Avenir Book" panose="02000503020000020003" pitchFamily="2" charset="0"/>
              </a:rPr>
              <a:t>Previous work:</a:t>
            </a:r>
          </a:p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dirty="0">
                <a:latin typeface="Avenir Book" panose="02000503020000020003" pitchFamily="2" charset="0"/>
              </a:rPr>
              <a:t>MICCAI 2025: Report Supervision (R-Super), a training method to learn tumor segmentation from reports instead of masks</a:t>
            </a:r>
          </a:p>
          <a:p>
            <a:pPr marL="1143000" lvl="1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u="sng" dirty="0">
                <a:latin typeface="Avenir Book" panose="02000503020000020003" pitchFamily="2" charset="0"/>
              </a:rPr>
              <a:t>MICCAI 2025 Best Paper Award (top 2) </a:t>
            </a:r>
          </a:p>
          <a:p>
            <a:pPr marL="1143000" lvl="1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u="sng" dirty="0">
                <a:latin typeface="Avenir Book" panose="02000503020000020003" pitchFamily="2" charset="0"/>
              </a:rPr>
              <a:t>Top 1 in pancreatic tumor detection on the public </a:t>
            </a:r>
            <a:r>
              <a:rPr lang="en-US" sz="2400" b="1" u="sng" dirty="0" err="1">
                <a:latin typeface="Avenir Book" panose="02000503020000020003" pitchFamily="2" charset="0"/>
              </a:rPr>
              <a:t>PanTS</a:t>
            </a:r>
            <a:r>
              <a:rPr lang="en-US" sz="2400" b="1" u="sng" dirty="0">
                <a:latin typeface="Avenir Book" panose="02000503020000020003" pitchFamily="2" charset="0"/>
              </a:rPr>
              <a:t> dataset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08EA80-55C5-1158-432A-B4DCC388332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0330" r="11588"/>
          <a:stretch/>
        </p:blipFill>
        <p:spPr>
          <a:xfrm>
            <a:off x="728740" y="17191478"/>
            <a:ext cx="3004526" cy="226910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07B8645-8635-FEFF-C140-A489E2D4DB1C}"/>
              </a:ext>
            </a:extLst>
          </p:cNvPr>
          <p:cNvSpPr txBox="1"/>
          <p:nvPr/>
        </p:nvSpPr>
        <p:spPr>
          <a:xfrm>
            <a:off x="3733266" y="17136323"/>
            <a:ext cx="271013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effectLst/>
                <a:latin typeface="Helvetica" pitchFamily="2" charset="0"/>
              </a:rPr>
              <a:t>Report:</a:t>
            </a:r>
          </a:p>
          <a:p>
            <a:r>
              <a:rPr lang="en-US" sz="1900" dirty="0">
                <a:effectLst/>
                <a:latin typeface="Helvetica" pitchFamily="2" charset="0"/>
              </a:rPr>
              <a:t>Within the upper endometrial cavity, there are two adjacent hyperattenuating lesions measuring up to 1.6-cm (series 4, image 254).</a:t>
            </a:r>
          </a:p>
        </p:txBody>
      </p:sp>
      <p:pic>
        <p:nvPicPr>
          <p:cNvPr id="25" name="Picture 24" descr="A beach with waves and a sunset&#10;&#10;Description automatically generated">
            <a:extLst>
              <a:ext uri="{FF2B5EF4-FFF2-40B4-BE49-F238E27FC236}">
                <a16:creationId xmlns:a16="http://schemas.microsoft.com/office/drawing/2014/main" id="{8DC038FB-B713-0FE0-BB2F-E1B315370DB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5040" t="4351" r="15358" b="2948"/>
          <a:stretch/>
        </p:blipFill>
        <p:spPr>
          <a:xfrm>
            <a:off x="11520167" y="17216926"/>
            <a:ext cx="2997157" cy="226910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3BCAD23-29D8-39A0-7DBF-4DA4320059C7}"/>
              </a:ext>
            </a:extLst>
          </p:cNvPr>
          <p:cNvSpPr txBox="1"/>
          <p:nvPr/>
        </p:nvSpPr>
        <p:spPr>
          <a:xfrm>
            <a:off x="9580560" y="17602395"/>
            <a:ext cx="19931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u="none" strike="noStrike" dirty="0">
                <a:solidFill>
                  <a:srgbClr val="000000"/>
                </a:solidFill>
                <a:effectLst/>
                <a:latin typeface="Avenir Medium" panose="02000503020000020003" pitchFamily="2" charset="0"/>
              </a:rPr>
              <a:t>Caption:</a:t>
            </a:r>
          </a:p>
          <a:p>
            <a:pPr algn="r"/>
            <a:endParaRPr lang="en-US" sz="2000" u="none" strike="noStrike" dirty="0">
              <a:solidFill>
                <a:srgbClr val="000000"/>
              </a:solidFill>
              <a:effectLst/>
              <a:latin typeface="Avenir Medium" panose="02000503020000020003" pitchFamily="2" charset="0"/>
            </a:endParaRPr>
          </a:p>
          <a:p>
            <a:pPr algn="r"/>
            <a:r>
              <a:rPr lang="en-US" sz="2000" u="none" strike="noStrike" dirty="0">
                <a:solidFill>
                  <a:srgbClr val="000000"/>
                </a:solidFill>
                <a:effectLst/>
                <a:latin typeface="Avenir Medium" panose="02000503020000020003" pitchFamily="2" charset="0"/>
              </a:rPr>
              <a:t>"If you want </a:t>
            </a:r>
          </a:p>
          <a:p>
            <a:pPr algn="r"/>
            <a:r>
              <a:rPr lang="en-US" sz="2000" u="none" strike="noStrike" dirty="0">
                <a:solidFill>
                  <a:srgbClr val="000000"/>
                </a:solidFill>
                <a:effectLst/>
                <a:latin typeface="Avenir Medium" panose="02000503020000020003" pitchFamily="2" charset="0"/>
              </a:rPr>
              <a:t>to be happy, be."</a:t>
            </a:r>
            <a:endParaRPr lang="en-US" sz="2000" dirty="0">
              <a:latin typeface="Avenir Medium" panose="02000503020000020003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596C69-3A85-49E3-B273-BF9366CFFE03}"/>
              </a:ext>
            </a:extLst>
          </p:cNvPr>
          <p:cNvSpPr txBox="1"/>
          <p:nvPr/>
        </p:nvSpPr>
        <p:spPr>
          <a:xfrm>
            <a:off x="339757" y="16348769"/>
            <a:ext cx="14378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Reports </a:t>
            </a:r>
            <a:r>
              <a:rPr lang="en-US" sz="3600" b="1" dirty="0">
                <a:solidFill>
                  <a:srgbClr val="002E75"/>
                </a:solidFill>
                <a:latin typeface="Avenir Black" panose="02000503020000020003" pitchFamily="2" charset="0"/>
              </a:rPr>
              <a:t>≠</a:t>
            </a:r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 Image Captions: Detailed Spatial &amp; Lesion Information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1F1C92C-58FD-DA48-6354-FECD5DB8C96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8473" y="17534570"/>
            <a:ext cx="3240580" cy="14838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D061FA9-1050-65D8-A951-BCDCB872E7E3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b="1511"/>
          <a:stretch/>
        </p:blipFill>
        <p:spPr>
          <a:xfrm>
            <a:off x="417223" y="23629778"/>
            <a:ext cx="14352794" cy="941455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0074566-D429-0948-CD15-0B22D60FC00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396712" y="29097616"/>
            <a:ext cx="14417827" cy="603339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7D1C8FD-18C4-6006-9875-122A3A34664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491553" y="35541358"/>
            <a:ext cx="14387191" cy="65498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284A2E6-4E24-A65A-254A-6FC9368A64E5}"/>
              </a:ext>
            </a:extLst>
          </p:cNvPr>
          <p:cNvSpPr txBox="1"/>
          <p:nvPr/>
        </p:nvSpPr>
        <p:spPr>
          <a:xfrm>
            <a:off x="87616" y="33458842"/>
            <a:ext cx="144152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Training Method: Teacher Sees Longitudinal Images &amp; Reports,</a:t>
            </a:r>
          </a:p>
          <a:p>
            <a:pPr algn="ctr"/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Student Sees one Image and no Report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FBB07A-49D8-004D-9143-22778F88B076}"/>
              </a:ext>
            </a:extLst>
          </p:cNvPr>
          <p:cNvSpPr txBox="1"/>
          <p:nvPr/>
        </p:nvSpPr>
        <p:spPr>
          <a:xfrm>
            <a:off x="440138" y="41386454"/>
            <a:ext cx="14367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b="1" dirty="0">
                <a:latin typeface="Avenir Book" panose="02000503020000020003" pitchFamily="2" charset="0"/>
              </a:rPr>
              <a:t>Inference: </a:t>
            </a:r>
            <a:r>
              <a:rPr lang="en-US" sz="2800" dirty="0">
                <a:latin typeface="Avenir Book" panose="02000503020000020003" pitchFamily="2" charset="0"/>
              </a:rPr>
              <a:t>use the teacher if longitudinal images are available; if not, use the student</a:t>
            </a:r>
            <a:endParaRPr lang="en-US" sz="2400" dirty="0">
              <a:latin typeface="Avenir Book" panose="02000503020000020003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9724F3-A111-D94F-4CB9-38CE9BE43B76}"/>
              </a:ext>
            </a:extLst>
          </p:cNvPr>
          <p:cNvSpPr txBox="1"/>
          <p:nvPr/>
        </p:nvSpPr>
        <p:spPr>
          <a:xfrm>
            <a:off x="15396712" y="17420631"/>
            <a:ext cx="143678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b="1" dirty="0">
                <a:latin typeface="Avenir Book" panose="02000503020000020003" pitchFamily="2" charset="0"/>
              </a:rPr>
              <a:t>Modularity &amp; efficiency: </a:t>
            </a:r>
            <a:r>
              <a:rPr lang="en-US" sz="2800" dirty="0">
                <a:latin typeface="Avenir Book" panose="02000503020000020003" pitchFamily="2" charset="0"/>
              </a:rPr>
              <a:t>the teacher uses the information from radiology reports and longitudinal images to improve the output of the student</a:t>
            </a:r>
          </a:p>
          <a:p>
            <a:pPr marL="1143000" lvl="1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dirty="0">
                <a:latin typeface="Avenir Book" panose="02000503020000020003" pitchFamily="2" charset="0"/>
              </a:rPr>
              <a:t>The student can have any segmentation architecture</a:t>
            </a:r>
            <a:endParaRPr lang="en-US" sz="2400" dirty="0">
              <a:latin typeface="Avenir Book" panose="02000503020000020003" pitchFamily="2" charset="0"/>
            </a:endParaRPr>
          </a:p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b="1" dirty="0">
                <a:latin typeface="Avenir Book" panose="02000503020000020003" pitchFamily="2" charset="0"/>
              </a:rPr>
              <a:t>A transformer creates convolutions</a:t>
            </a:r>
            <a:r>
              <a:rPr lang="en-US" sz="2800" dirty="0">
                <a:latin typeface="Avenir Book" panose="02000503020000020003" pitchFamily="2" charset="0"/>
              </a:rPr>
              <a:t>: the teacher includes a transformer that</a:t>
            </a:r>
          </a:p>
          <a:p>
            <a:pPr marL="1143000" lvl="1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dirty="0">
                <a:latin typeface="Avenir Book" panose="02000503020000020003" pitchFamily="2" charset="0"/>
              </a:rPr>
              <a:t>Reads information from reports and longitudinal images with cross-attention </a:t>
            </a:r>
          </a:p>
          <a:p>
            <a:pPr marL="1143000" lvl="1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dirty="0">
                <a:latin typeface="Avenir Book" panose="02000503020000020003" pitchFamily="2" charset="0"/>
              </a:rPr>
              <a:t>Outputs convolutional kernels </a:t>
            </a:r>
            <a:r>
              <a:rPr lang="en-US" sz="2400" dirty="0">
                <a:latin typeface="Avenir Book" panose="02000503020000020003" pitchFamily="2" charset="0"/>
              </a:rPr>
              <a:t>that process the student’s outputs and features</a:t>
            </a:r>
          </a:p>
          <a:p>
            <a:pPr marL="1143000" lvl="1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dirty="0">
                <a:latin typeface="Avenir Book" panose="02000503020000020003" pitchFamily="2" charset="0"/>
              </a:rPr>
              <a:t>Small convolutional kernels are created directly by the transformer</a:t>
            </a:r>
          </a:p>
          <a:p>
            <a:pPr marL="1143000" lvl="1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dirty="0">
                <a:latin typeface="Avenir Book" panose="02000503020000020003" pitchFamily="2" charset="0"/>
              </a:rPr>
              <a:t>Big kernels are chosen by the transformer from a kernel bank (</a:t>
            </a:r>
            <a:r>
              <a:rPr lang="en-US" sz="2400" b="1" dirty="0">
                <a:latin typeface="Avenir Book" panose="02000503020000020003" pitchFamily="2" charset="0"/>
              </a:rPr>
              <a:t>mixture-of-experts</a:t>
            </a:r>
            <a:r>
              <a:rPr lang="en-US" sz="2400" dirty="0">
                <a:latin typeface="Avenir Book" panose="02000503020000020003" pitchFamily="2" charset="0"/>
              </a:rPr>
              <a:t>)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8DAB6597-8D2E-312B-0EFE-FA2AF53FD2A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519492" y="11544832"/>
            <a:ext cx="14215774" cy="583211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2DA6AFBA-1913-791C-BF3B-F656D9C33406}"/>
              </a:ext>
            </a:extLst>
          </p:cNvPr>
          <p:cNvSpPr txBox="1"/>
          <p:nvPr/>
        </p:nvSpPr>
        <p:spPr>
          <a:xfrm>
            <a:off x="15579872" y="28770544"/>
            <a:ext cx="14367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E75"/>
                </a:solidFill>
                <a:latin typeface="Avenir Book" panose="02000503020000020003" pitchFamily="2" charset="0"/>
              </a:rPr>
              <a:t>Internal Test: 501 CT scans, USA</a:t>
            </a:r>
            <a:endParaRPr lang="en-US" sz="2400" dirty="0">
              <a:solidFill>
                <a:srgbClr val="002E75"/>
              </a:solidFill>
              <a:latin typeface="Avenir Book" panose="02000503020000020003" pitchFamily="2" charset="0"/>
            </a:endParaRPr>
          </a:p>
        </p:txBody>
      </p:sp>
      <p:pic>
        <p:nvPicPr>
          <p:cNvPr id="57" name="Picture 22" descr="Image preview">
            <a:extLst>
              <a:ext uri="{FF2B5EF4-FFF2-40B4-BE49-F238E27FC236}">
                <a16:creationId xmlns:a16="http://schemas.microsoft.com/office/drawing/2014/main" id="{857D3923-7626-5D33-3C5A-0DB80E1A2C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64" b="7141"/>
          <a:stretch/>
        </p:blipFill>
        <p:spPr bwMode="auto">
          <a:xfrm>
            <a:off x="15376150" y="22496714"/>
            <a:ext cx="14481839" cy="42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18E9D0F-DFC0-F51C-E884-64763FE4AF6D}"/>
              </a:ext>
            </a:extLst>
          </p:cNvPr>
          <p:cNvSpPr txBox="1"/>
          <p:nvPr/>
        </p:nvSpPr>
        <p:spPr>
          <a:xfrm>
            <a:off x="15323629" y="21475511"/>
            <a:ext cx="145518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Results: RT-Super Surpasses Previous Public AI Models in </a:t>
            </a:r>
          </a:p>
          <a:p>
            <a:pPr algn="ctr"/>
            <a:r>
              <a:rPr lang="en-US" sz="3200" b="1" dirty="0">
                <a:solidFill>
                  <a:srgbClr val="002E75"/>
                </a:solidFill>
                <a:latin typeface="Avenir Black" panose="02000503020000020003" pitchFamily="2" charset="0"/>
              </a:rPr>
              <a:t>multi-tumor Detection &amp; Segmentation (+20% AUC, +32% DSC)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FF4F3B-A8A2-60FC-BCA0-A7F2DE1B82C8}"/>
              </a:ext>
            </a:extLst>
          </p:cNvPr>
          <p:cNvSpPr txBox="1"/>
          <p:nvPr/>
        </p:nvSpPr>
        <p:spPr>
          <a:xfrm>
            <a:off x="15315788" y="26743303"/>
            <a:ext cx="14542201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b="1" dirty="0">
                <a:latin typeface="Avenir Book" panose="02000503020000020003" pitchFamily="2" charset="0"/>
              </a:rPr>
              <a:t>External validation: </a:t>
            </a:r>
            <a:r>
              <a:rPr lang="en-US" sz="2800" dirty="0">
                <a:latin typeface="Avenir Book" panose="02000503020000020003" pitchFamily="2" charset="0"/>
              </a:rPr>
              <a:t>trained in the USA, tested in Turkey</a:t>
            </a:r>
          </a:p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dirty="0">
                <a:solidFill>
                  <a:srgbClr val="002E75"/>
                </a:solidFill>
                <a:latin typeface="Avenir Book" panose="02000503020000020003" pitchFamily="2" charset="0"/>
              </a:rPr>
              <a:t>Esophagus/spleen/uterus tumors: few public masks, public AI struggled to detect/segment them. Learning from longitudinal CT-Reports, RT-Super fills this gap.</a:t>
            </a:r>
            <a:endParaRPr lang="en-US" sz="2400" dirty="0">
              <a:solidFill>
                <a:srgbClr val="002E75"/>
              </a:solidFill>
              <a:latin typeface="Avenir Book" panose="02000503020000020003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DA98D0-23F0-94FA-7608-F44FB33381C2}"/>
              </a:ext>
            </a:extLst>
          </p:cNvPr>
          <p:cNvSpPr txBox="1"/>
          <p:nvPr/>
        </p:nvSpPr>
        <p:spPr>
          <a:xfrm>
            <a:off x="15579872" y="35056238"/>
            <a:ext cx="14367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E75"/>
                </a:solidFill>
                <a:latin typeface="Avenir Book" panose="02000503020000020003" pitchFamily="2" charset="0"/>
              </a:rPr>
              <a:t>External Test: small tumors (≤ 2 cm), 418 CT scans, Turkey</a:t>
            </a:r>
            <a:endParaRPr lang="en-US" sz="2400" dirty="0">
              <a:solidFill>
                <a:srgbClr val="002E75"/>
              </a:solidFill>
              <a:latin typeface="Avenir Book" panose="02000503020000020003" pitchFamily="2" charset="0"/>
            </a:endParaRPr>
          </a:p>
        </p:txBody>
      </p:sp>
      <p:pic>
        <p:nvPicPr>
          <p:cNvPr id="1048" name="Picture 24" descr="Image preview">
            <a:extLst>
              <a:ext uri="{FF2B5EF4-FFF2-40B4-BE49-F238E27FC236}">
                <a16:creationId xmlns:a16="http://schemas.microsoft.com/office/drawing/2014/main" id="{3D562798-7394-E94E-8D21-DD116011D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59" y="34432649"/>
            <a:ext cx="14322658" cy="690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281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63C5678F0D3F479E69E6AB67551190" ma:contentTypeVersion="15" ma:contentTypeDescription="Create a new document." ma:contentTypeScope="" ma:versionID="84ca11deb210e04ca8f9ad0580409488">
  <xsd:schema xmlns:xsd="http://www.w3.org/2001/XMLSchema" xmlns:xs="http://www.w3.org/2001/XMLSchema" xmlns:p="http://schemas.microsoft.com/office/2006/metadata/properties" xmlns:ns2="300b94c4-4313-4f58-a977-849a339be42d" xmlns:ns3="a852daec-d9ee-4fe4-acd5-23bfd96705f3" targetNamespace="http://schemas.microsoft.com/office/2006/metadata/properties" ma:root="true" ma:fieldsID="9436841a1d59bd09e699be8de0b302b4" ns2:_="" ns3:_="">
    <xsd:import namespace="300b94c4-4313-4f58-a977-849a339be42d"/>
    <xsd:import namespace="a852daec-d9ee-4fe4-acd5-23bfd96705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b94c4-4313-4f58-a977-849a339be4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3f7c956-802a-45ac-b2ba-cc78506785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2daec-d9ee-4fe4-acd5-23bfd96705f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f814582-03b9-4138-add7-1d3d7a40168a}" ma:internalName="TaxCatchAll" ma:showField="CatchAllData" ma:web="a852daec-d9ee-4fe4-acd5-23bfd96705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0b94c4-4313-4f58-a977-849a339be42d">
      <Terms xmlns="http://schemas.microsoft.com/office/infopath/2007/PartnerControls"/>
    </lcf76f155ced4ddcb4097134ff3c332f>
    <TaxCatchAll xmlns="a852daec-d9ee-4fe4-acd5-23bfd96705f3" xsi:nil="true"/>
  </documentManagement>
</p:properties>
</file>

<file path=customXml/itemProps1.xml><?xml version="1.0" encoding="utf-8"?>
<ds:datastoreItem xmlns:ds="http://schemas.openxmlformats.org/officeDocument/2006/customXml" ds:itemID="{FDA2A1FA-1F2A-4760-82AF-902AE25853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B03206-AFA6-4D88-9045-F7D576479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0b94c4-4313-4f58-a977-849a339be42d"/>
    <ds:schemaRef ds:uri="a852daec-d9ee-4fe4-acd5-23bfd96705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F0D455-7748-4F85-858C-B90FBB7DFC8A}">
  <ds:schemaRefs>
    <ds:schemaRef ds:uri="300b94c4-4313-4f58-a977-849a339be42d"/>
    <ds:schemaRef ds:uri="a852daec-d9ee-4fe4-acd5-23bfd96705f3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6595</TotalTime>
  <Words>766</Words>
  <Application>Microsoft Macintosh PowerPoint</Application>
  <PresentationFormat>Custom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Avenir Black</vt:lpstr>
      <vt:lpstr>Avenir Book</vt:lpstr>
      <vt:lpstr>Avenir Medium</vt:lpstr>
      <vt:lpstr>Calibri</vt:lpstr>
      <vt:lpstr>Calibri Light</vt:lpstr>
      <vt:lpstr>Helvetica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Erdogan Kaya - Milk Creative &amp; Events</dc:creator>
  <cp:lastModifiedBy>Pedro Salvador Bassi</cp:lastModifiedBy>
  <cp:revision>119</cp:revision>
  <cp:lastPrinted>2025-09-13T19:45:02Z</cp:lastPrinted>
  <dcterms:created xsi:type="dcterms:W3CDTF">2025-07-29T05:48:00Z</dcterms:created>
  <dcterms:modified xsi:type="dcterms:W3CDTF">2026-09-23T23:26:50Z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0x0101009663C5678F0D3F479E69E6AB67551190</vt:lpwstr>
  </property>
  <property fmtid="{D5CDD505-2E9C-101B-9397-08002B2CF9AE}" pid="3" name="MediaServiceImageTags">
    <vt:lpwstr/>
  </property>
</Properties>
</file>